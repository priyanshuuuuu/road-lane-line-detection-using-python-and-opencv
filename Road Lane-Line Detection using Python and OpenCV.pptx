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3"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13117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2770916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3899559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CFAEE6-B309-448C-9294-883C191D529F}" type="datetimeFigureOut">
              <a:rPr lang="en-IN" smtClean="0"/>
              <a:t>20-12-2023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3235196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CFAEE6-B309-448C-9294-883C191D529F}" type="datetimeFigureOut">
              <a:rPr lang="en-IN" smtClean="0"/>
              <a:t>20-12-2023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3161574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2605045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217166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1731709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CFAEE6-B309-448C-9294-883C191D529F}" type="datetimeFigureOut">
              <a:rPr lang="en-IN" smtClean="0"/>
              <a:t>20-12-2023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3842520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CFAEE6-B309-448C-9294-883C191D529F}" type="datetimeFigureOut">
              <a:rPr lang="en-IN" smtClean="0"/>
              <a:t>20-12-2023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3780076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3583069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868985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4115991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1390246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2323146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38505426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CFAEE6-B309-448C-9294-883C191D529F}" type="datetimeFigureOut">
              <a:rPr lang="en-IN" smtClean="0"/>
              <a:t>20-12-2023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6731E8-C786-4FF4-9597-0CFA17203381}" type="slidenum">
              <a:rPr lang="en-IN" smtClean="0"/>
              <a:t>‹#›</a:t>
            </a:fld>
            <a:endParaRPr lang="en-IN"/>
          </a:p>
        </p:txBody>
      </p:sp>
    </p:spTree>
    <p:extLst>
      <p:ext uri="{BB962C8B-B14F-4D97-AF65-F5344CB8AC3E}">
        <p14:creationId xmlns:p14="http://schemas.microsoft.com/office/powerpoint/2010/main" val="3934643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ECFAEE6-B309-448C-9294-883C191D529F}" type="datetimeFigureOut">
              <a:rPr lang="en-IN" smtClean="0"/>
              <a:t>20-12-2023</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56731E8-C786-4FF4-9597-0CFA17203381}" type="slidenum">
              <a:rPr lang="en-IN" smtClean="0"/>
              <a:t>‹#›</a:t>
            </a:fld>
            <a:endParaRPr lang="en-IN"/>
          </a:p>
        </p:txBody>
      </p:sp>
    </p:spTree>
    <p:extLst>
      <p:ext uri="{BB962C8B-B14F-4D97-AF65-F5344CB8AC3E}">
        <p14:creationId xmlns:p14="http://schemas.microsoft.com/office/powerpoint/2010/main" val="383664866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homasfermi.github.io/Algorithms-for-Automated-Driving/Introduction/intro.html" TargetMode="Externa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71EA3-69A8-1A5E-409D-5C5AB8192EBF}"/>
              </a:ext>
            </a:extLst>
          </p:cNvPr>
          <p:cNvSpPr>
            <a:spLocks noGrp="1"/>
          </p:cNvSpPr>
          <p:nvPr>
            <p:ph type="ctrTitle"/>
          </p:nvPr>
        </p:nvSpPr>
        <p:spPr>
          <a:xfrm>
            <a:off x="1154955" y="1037968"/>
            <a:ext cx="8825658" cy="3329581"/>
          </a:xfrm>
        </p:spPr>
        <p:txBody>
          <a:bodyPr/>
          <a:lstStyle/>
          <a:p>
            <a:r>
              <a:rPr lang="en-US" sz="6000" dirty="0"/>
              <a:t>Road Lane-Line Detection using Python and OpenCV</a:t>
            </a:r>
            <a:endParaRPr lang="en-IN" sz="6000" dirty="0"/>
          </a:p>
        </p:txBody>
      </p:sp>
      <p:sp>
        <p:nvSpPr>
          <p:cNvPr id="3" name="Subtitle 2">
            <a:extLst>
              <a:ext uri="{FF2B5EF4-FFF2-40B4-BE49-F238E27FC236}">
                <a16:creationId xmlns:a16="http://schemas.microsoft.com/office/drawing/2014/main" id="{4D8B8991-7EDD-056B-37B3-A956303F2EC1}"/>
              </a:ext>
            </a:extLst>
          </p:cNvPr>
          <p:cNvSpPr>
            <a:spLocks noGrp="1"/>
          </p:cNvSpPr>
          <p:nvPr>
            <p:ph type="subTitle" idx="1"/>
          </p:nvPr>
        </p:nvSpPr>
        <p:spPr>
          <a:xfrm>
            <a:off x="1154955" y="4958612"/>
            <a:ext cx="8825658" cy="861420"/>
          </a:xfrm>
        </p:spPr>
        <p:txBody>
          <a:bodyPr>
            <a:normAutofit fontScale="70000" lnSpcReduction="20000"/>
          </a:bodyPr>
          <a:lstStyle/>
          <a:p>
            <a:r>
              <a:rPr lang="en-US" dirty="0"/>
              <a:t>Name: Priyanshu Rohilla</a:t>
            </a:r>
          </a:p>
          <a:p>
            <a:r>
              <a:rPr lang="en-US" dirty="0"/>
              <a:t>Enrollment No. 04616403220</a:t>
            </a:r>
            <a:endParaRPr lang="en-IN" dirty="0"/>
          </a:p>
          <a:p>
            <a:r>
              <a:rPr lang="en-US" dirty="0"/>
              <a:t>Batch: B.Tech. CSE 7th Sem</a:t>
            </a:r>
          </a:p>
        </p:txBody>
      </p:sp>
    </p:spTree>
    <p:extLst>
      <p:ext uri="{BB962C8B-B14F-4D97-AF65-F5344CB8AC3E}">
        <p14:creationId xmlns:p14="http://schemas.microsoft.com/office/powerpoint/2010/main" val="3659858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FD2E3-2BA2-722B-F433-A3122EB7B017}"/>
              </a:ext>
            </a:extLst>
          </p:cNvPr>
          <p:cNvSpPr>
            <a:spLocks noGrp="1"/>
          </p:cNvSpPr>
          <p:nvPr>
            <p:ph type="title"/>
          </p:nvPr>
        </p:nvSpPr>
        <p:spPr/>
        <p:txBody>
          <a:bodyPr/>
          <a:lstStyle/>
          <a:p>
            <a:pPr algn="ctr"/>
            <a:r>
              <a:rPr lang="en-US" u="sng" dirty="0"/>
              <a:t>Problem Statement</a:t>
            </a:r>
            <a:endParaRPr lang="en-IN" u="sng" dirty="0"/>
          </a:p>
        </p:txBody>
      </p:sp>
      <p:sp>
        <p:nvSpPr>
          <p:cNvPr id="3" name="Content Placeholder 2">
            <a:extLst>
              <a:ext uri="{FF2B5EF4-FFF2-40B4-BE49-F238E27FC236}">
                <a16:creationId xmlns:a16="http://schemas.microsoft.com/office/drawing/2014/main" id="{D56E61E2-7BCC-9340-EE98-5B1F9CE9A7DA}"/>
              </a:ext>
            </a:extLst>
          </p:cNvPr>
          <p:cNvSpPr>
            <a:spLocks noGrp="1"/>
          </p:cNvSpPr>
          <p:nvPr>
            <p:ph idx="1"/>
          </p:nvPr>
        </p:nvSpPr>
        <p:spPr>
          <a:xfrm>
            <a:off x="646112" y="1598142"/>
            <a:ext cx="9634710" cy="4807140"/>
          </a:xfrm>
        </p:spPr>
        <p:txBody>
          <a:bodyPr/>
          <a:lstStyle/>
          <a:p>
            <a:pPr marL="337185" indent="0" algn="just">
              <a:lnSpc>
                <a:spcPct val="115000"/>
              </a:lnSpc>
              <a:buNone/>
            </a:pPr>
            <a:r>
              <a:rPr lang="en-IN" sz="1800" dirty="0">
                <a:effectLst/>
                <a:latin typeface="Century Gothic (Headings)"/>
                <a:ea typeface="Times New Roman" panose="02020603050405020304" pitchFamily="18" charset="0"/>
              </a:rPr>
              <a:t>AIM: The goal of this project is to develop a robust lane line detection system using computer vision techniques and image processing algorithms. The system should be capable of accurately detecting and highlighting lane lines in real-time video or images captured by a vehicle's camera.</a:t>
            </a:r>
          </a:p>
          <a:p>
            <a:pPr marL="337185" indent="0">
              <a:lnSpc>
                <a:spcPct val="106000"/>
              </a:lnSpc>
              <a:buNone/>
            </a:pPr>
            <a:endParaRPr lang="en-IN" sz="1800" dirty="0">
              <a:effectLst/>
              <a:latin typeface="Times New Roman" panose="02020603050405020304" pitchFamily="18" charset="0"/>
              <a:ea typeface="Times New Roman" panose="02020603050405020304" pitchFamily="18" charset="0"/>
            </a:endParaRPr>
          </a:p>
          <a:p>
            <a:pPr marL="337185" indent="0" algn="just">
              <a:lnSpc>
                <a:spcPct val="115000"/>
              </a:lnSpc>
              <a:buNone/>
            </a:pPr>
            <a:endParaRPr lang="en-IN" sz="18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F08CCDA1-2B0B-B12C-D0DB-44131AC1875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627144" y="3278659"/>
            <a:ext cx="5495364" cy="2747682"/>
          </a:xfrm>
          <a:prstGeom prst="rect">
            <a:avLst/>
          </a:prstGeom>
        </p:spPr>
      </p:pic>
    </p:spTree>
    <p:extLst>
      <p:ext uri="{BB962C8B-B14F-4D97-AF65-F5344CB8AC3E}">
        <p14:creationId xmlns:p14="http://schemas.microsoft.com/office/powerpoint/2010/main" val="4206392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8635B-56BD-DCD1-BD3E-4089A341F8A7}"/>
              </a:ext>
            </a:extLst>
          </p:cNvPr>
          <p:cNvSpPr>
            <a:spLocks noGrp="1"/>
          </p:cNvSpPr>
          <p:nvPr>
            <p:ph type="title"/>
          </p:nvPr>
        </p:nvSpPr>
        <p:spPr/>
        <p:txBody>
          <a:bodyPr/>
          <a:lstStyle/>
          <a:p>
            <a:pPr algn="ctr"/>
            <a:r>
              <a:rPr lang="en-US" u="sng" dirty="0"/>
              <a:t>Implementation</a:t>
            </a:r>
            <a:endParaRPr lang="en-IN" u="sng" dirty="0"/>
          </a:p>
        </p:txBody>
      </p:sp>
      <p:sp>
        <p:nvSpPr>
          <p:cNvPr id="3" name="Content Placeholder 2">
            <a:extLst>
              <a:ext uri="{FF2B5EF4-FFF2-40B4-BE49-F238E27FC236}">
                <a16:creationId xmlns:a16="http://schemas.microsoft.com/office/drawing/2014/main" id="{28FD3341-DA24-CF6F-3824-57F67FFC6243}"/>
              </a:ext>
            </a:extLst>
          </p:cNvPr>
          <p:cNvSpPr>
            <a:spLocks noGrp="1"/>
          </p:cNvSpPr>
          <p:nvPr>
            <p:ph idx="1"/>
          </p:nvPr>
        </p:nvSpPr>
        <p:spPr>
          <a:xfrm>
            <a:off x="1103312" y="1614616"/>
            <a:ext cx="10042483" cy="4633783"/>
          </a:xfrm>
        </p:spPr>
        <p:txBody>
          <a:bodyPr>
            <a:normAutofit fontScale="32500" lnSpcReduction="20000"/>
          </a:bodyPr>
          <a:lstStyle/>
          <a:p>
            <a:pPr marL="0" indent="0" algn="just">
              <a:buNone/>
            </a:pPr>
            <a:r>
              <a:rPr lang="en-US" sz="5500" dirty="0"/>
              <a:t>We have a function called ‘</a:t>
            </a:r>
            <a:r>
              <a:rPr lang="en-US" sz="5500" i="1" dirty="0"/>
              <a:t>detect_lanes()’ </a:t>
            </a:r>
            <a:r>
              <a:rPr lang="en-US" sz="5500" dirty="0"/>
              <a:t>which will detect lanes in a given frame.</a:t>
            </a:r>
            <a:r>
              <a:rPr lang="en-US" sz="5500" i="1" dirty="0"/>
              <a:t> </a:t>
            </a:r>
            <a:r>
              <a:rPr lang="en-US" sz="5500" dirty="0"/>
              <a:t>What happens inside this function?</a:t>
            </a:r>
          </a:p>
          <a:p>
            <a:pPr marL="0" indent="0" algn="just">
              <a:buNone/>
            </a:pPr>
            <a:endParaRPr lang="en-US" sz="5500" dirty="0"/>
          </a:p>
          <a:p>
            <a:pPr marL="0" indent="0" algn="just">
              <a:buNone/>
            </a:pPr>
            <a:r>
              <a:rPr lang="en-US" sz="5500" u="sng" dirty="0"/>
              <a:t>1. GRAYSCALING</a:t>
            </a:r>
          </a:p>
          <a:p>
            <a:pPr marL="0" indent="0" algn="just">
              <a:buNone/>
            </a:pPr>
            <a:r>
              <a:rPr lang="en-US" sz="5500" dirty="0"/>
              <a:t>First the frame is converted into grayscale so as to process it easily and faster because it deals with only two colors instead of three (RGB). Converts the input frame to grayscale, simplifying the image for edge detection.</a:t>
            </a:r>
          </a:p>
          <a:p>
            <a:pPr marL="0" indent="0" algn="just">
              <a:buNone/>
            </a:pPr>
            <a:r>
              <a:rPr lang="en-US" sz="5500" dirty="0"/>
              <a:t>Code: </a:t>
            </a:r>
            <a:r>
              <a:rPr lang="en-US" sz="5500" b="1" dirty="0"/>
              <a:t>gray = cv2.cvtColor(frame, cv2.COLOR_BGR2GRAY)</a:t>
            </a:r>
          </a:p>
          <a:p>
            <a:pPr marL="0" indent="0" algn="just">
              <a:buNone/>
            </a:pPr>
            <a:endParaRPr lang="en-US" sz="5500" b="1" dirty="0"/>
          </a:p>
          <a:p>
            <a:pPr marL="0" indent="0" algn="just">
              <a:buNone/>
            </a:pPr>
            <a:r>
              <a:rPr lang="en-US" sz="5500" u="sng" dirty="0"/>
              <a:t>2. GAUSSIAN BLUR</a:t>
            </a:r>
          </a:p>
          <a:p>
            <a:pPr marL="0" indent="0" algn="just">
              <a:buNone/>
            </a:pPr>
            <a:r>
              <a:rPr lang="en-US" sz="5500" dirty="0"/>
              <a:t>Then Gaussian Blur is applied in the frame so as to reduce the noise and smoothen it.</a:t>
            </a:r>
          </a:p>
          <a:p>
            <a:pPr marL="0" indent="0" algn="just">
              <a:buNone/>
            </a:pPr>
            <a:r>
              <a:rPr lang="en-US" sz="5500" dirty="0"/>
              <a:t>Code: </a:t>
            </a:r>
            <a:r>
              <a:rPr lang="en-US" sz="5500" b="1" dirty="0"/>
              <a:t>blurred = cv2.GaussianBlur(gray, (5, 5), 0)</a:t>
            </a:r>
          </a:p>
          <a:p>
            <a:pPr marL="0" indent="0">
              <a:buNone/>
            </a:pPr>
            <a:endParaRPr lang="en-US" dirty="0"/>
          </a:p>
          <a:p>
            <a:pPr marL="0" indent="0">
              <a:buNone/>
            </a:pPr>
            <a:endParaRPr lang="en-US" dirty="0"/>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1560925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D3341-DA24-CF6F-3824-57F67FFC6243}"/>
              </a:ext>
            </a:extLst>
          </p:cNvPr>
          <p:cNvSpPr>
            <a:spLocks noGrp="1"/>
          </p:cNvSpPr>
          <p:nvPr>
            <p:ph idx="1"/>
          </p:nvPr>
        </p:nvSpPr>
        <p:spPr>
          <a:xfrm>
            <a:off x="1103312" y="313038"/>
            <a:ext cx="9301077" cy="5935362"/>
          </a:xfrm>
        </p:spPr>
        <p:txBody>
          <a:bodyPr>
            <a:normAutofit fontScale="55000" lnSpcReduction="20000"/>
          </a:bodyPr>
          <a:lstStyle/>
          <a:p>
            <a:pPr marL="0" indent="0">
              <a:buNone/>
            </a:pPr>
            <a:endParaRPr lang="en-US" sz="5500" dirty="0"/>
          </a:p>
          <a:p>
            <a:pPr marL="0" indent="0" algn="just">
              <a:buNone/>
            </a:pPr>
            <a:r>
              <a:rPr lang="en-US" sz="3300" u="sng" dirty="0"/>
              <a:t>3. CANNY EDGE DETECTION </a:t>
            </a:r>
          </a:p>
          <a:p>
            <a:pPr marL="0" indent="0" algn="just">
              <a:buNone/>
            </a:pPr>
            <a:r>
              <a:rPr lang="en-US" sz="3300" dirty="0"/>
              <a:t>Canny edge detection is applied using OpenCV to detect the edges of the lanes, and a masking function was applied to eliminate distractions such as trees, rocks, and power lines. It uses the canny algorithm.</a:t>
            </a:r>
          </a:p>
          <a:p>
            <a:pPr marL="0" indent="0" algn="just">
              <a:buNone/>
            </a:pPr>
            <a:r>
              <a:rPr lang="en-US" sz="3300" dirty="0"/>
              <a:t>Code: </a:t>
            </a:r>
            <a:r>
              <a:rPr lang="en-US" sz="3300" b="1" dirty="0"/>
              <a:t>edges = cv2.Canny(blurred, 150, 250)</a:t>
            </a:r>
          </a:p>
          <a:p>
            <a:pPr marL="0" indent="0" algn="just">
              <a:buNone/>
            </a:pPr>
            <a:endParaRPr lang="en-US" sz="3300" b="1" dirty="0"/>
          </a:p>
          <a:p>
            <a:pPr marL="0" indent="0" algn="just">
              <a:buNone/>
            </a:pPr>
            <a:r>
              <a:rPr lang="en-US" sz="3300" u="sng" dirty="0"/>
              <a:t>4. REGION OF INTEREST (ROI) MASKING </a:t>
            </a:r>
          </a:p>
          <a:p>
            <a:pPr marL="0" indent="0" algn="just">
              <a:buNone/>
            </a:pPr>
            <a:r>
              <a:rPr lang="en-US" sz="3300" dirty="0"/>
              <a:t>Creates a mask to define the region of interest (the area where lane lines are expected) by using a polygon defined by ‘</a:t>
            </a:r>
            <a:r>
              <a:rPr lang="en-US" sz="3300" dirty="0" err="1"/>
              <a:t>region_of_interest_vertices</a:t>
            </a:r>
            <a:r>
              <a:rPr lang="en-US" sz="3300" dirty="0"/>
              <a:t>’. This isolates the area for lane detection.</a:t>
            </a:r>
          </a:p>
          <a:p>
            <a:pPr marL="0" indent="0" algn="just">
              <a:buNone/>
            </a:pPr>
            <a:endParaRPr lang="en-US" sz="3300" dirty="0"/>
          </a:p>
          <a:p>
            <a:pPr marL="0" indent="0" algn="just">
              <a:buNone/>
            </a:pPr>
            <a:r>
              <a:rPr lang="en-US" sz="3300" u="sng" dirty="0"/>
              <a:t>5. APPLYING MASK TO EDGES</a:t>
            </a:r>
          </a:p>
          <a:p>
            <a:pPr marL="0" indent="0" algn="just">
              <a:buNone/>
            </a:pPr>
            <a:r>
              <a:rPr lang="en-US" sz="3300" dirty="0"/>
              <a:t>Applies the mask to the detected edges, focusing only on the region of interest.</a:t>
            </a:r>
          </a:p>
          <a:p>
            <a:pPr marL="0" indent="0" algn="just">
              <a:buNone/>
            </a:pPr>
            <a:r>
              <a:rPr lang="en-US" sz="3300" dirty="0"/>
              <a:t>Code: </a:t>
            </a:r>
            <a:r>
              <a:rPr lang="en-US" sz="3300" b="1" dirty="0" err="1"/>
              <a:t>masked_edges</a:t>
            </a:r>
            <a:r>
              <a:rPr lang="en-US" sz="3300" b="1" dirty="0"/>
              <a:t> = cv2.bitwise_and(edges, mask)</a:t>
            </a:r>
          </a:p>
          <a:p>
            <a:pPr marL="0" indent="0">
              <a:buNone/>
            </a:pPr>
            <a:endParaRPr lang="en-US" sz="3300" dirty="0"/>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253235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D3341-DA24-CF6F-3824-57F67FFC6243}"/>
              </a:ext>
            </a:extLst>
          </p:cNvPr>
          <p:cNvSpPr>
            <a:spLocks noGrp="1"/>
          </p:cNvSpPr>
          <p:nvPr>
            <p:ph idx="1"/>
          </p:nvPr>
        </p:nvSpPr>
        <p:spPr>
          <a:xfrm>
            <a:off x="1103312" y="575733"/>
            <a:ext cx="9319155" cy="5638800"/>
          </a:xfrm>
        </p:spPr>
        <p:txBody>
          <a:bodyPr>
            <a:normAutofit/>
          </a:bodyPr>
          <a:lstStyle/>
          <a:p>
            <a:pPr marL="0" indent="0" algn="just">
              <a:buNone/>
            </a:pPr>
            <a:r>
              <a:rPr lang="en-US" sz="1700" u="sng" dirty="0"/>
              <a:t>6. Hough Transform</a:t>
            </a:r>
          </a:p>
          <a:p>
            <a:pPr marL="0" indent="0" algn="just">
              <a:buNone/>
            </a:pPr>
            <a:r>
              <a:rPr lang="en-US" sz="1600" b="0" i="0" dirty="0">
                <a:effectLst/>
                <a:latin typeface="Century Gothic (Headings)"/>
              </a:rPr>
              <a:t>Utilizes the Hough Transform to detect lines in the masked edge image, tuning parameters like resolution</a:t>
            </a:r>
            <a:r>
              <a:rPr lang="en-US" sz="1700" b="0" i="0" dirty="0">
                <a:effectLst/>
                <a:latin typeface="Century Gothic (Headings)"/>
              </a:rPr>
              <a:t> </a:t>
            </a:r>
            <a:r>
              <a:rPr lang="en-US" sz="1700" dirty="0">
                <a:latin typeface="Century Gothic (Headings)"/>
              </a:rPr>
              <a:t>(‘rho’), angle (‘theta’) and thresholds (‘threshold’, ‘</a:t>
            </a:r>
            <a:r>
              <a:rPr lang="en-US" sz="1700" dirty="0" err="1">
                <a:latin typeface="Century Gothic (Headings)"/>
              </a:rPr>
              <a:t>minLineLength</a:t>
            </a:r>
            <a:r>
              <a:rPr lang="en-US" sz="1700" dirty="0">
                <a:latin typeface="Century Gothic (Headings)"/>
              </a:rPr>
              <a:t>’, ‘</a:t>
            </a:r>
            <a:r>
              <a:rPr lang="en-US" sz="1700" dirty="0" err="1">
                <a:latin typeface="Century Gothic (Headings)"/>
              </a:rPr>
              <a:t>maxLineGap</a:t>
            </a:r>
            <a:r>
              <a:rPr lang="en-US" sz="1700" dirty="0">
                <a:latin typeface="Century Gothic (Headings)"/>
              </a:rPr>
              <a:t>’).</a:t>
            </a:r>
          </a:p>
          <a:p>
            <a:pPr marL="0" indent="0">
              <a:buNone/>
            </a:pPr>
            <a:r>
              <a:rPr lang="en-US" sz="1700" dirty="0"/>
              <a:t>Code: </a:t>
            </a:r>
            <a:r>
              <a:rPr lang="en-US" sz="1700" b="1" dirty="0"/>
              <a:t>lines = cv2.HoughLinesP(</a:t>
            </a:r>
            <a:r>
              <a:rPr lang="en-US" sz="1700" b="1" dirty="0" err="1"/>
              <a:t>masked_edges,rho</a:t>
            </a:r>
            <a:r>
              <a:rPr lang="en-US" sz="1700" b="1" dirty="0"/>
              <a:t>=6,theta=</a:t>
            </a:r>
            <a:r>
              <a:rPr lang="en-US" sz="1700" b="1" dirty="0" err="1"/>
              <a:t>np.pi</a:t>
            </a:r>
            <a:r>
              <a:rPr lang="en-US" sz="1700" b="1" dirty="0"/>
              <a:t> / 60,threshold=230,lines=</a:t>
            </a:r>
            <a:r>
              <a:rPr lang="en-US" sz="1700" b="1" dirty="0" err="1"/>
              <a:t>np.array</a:t>
            </a:r>
            <a:r>
              <a:rPr lang="en-US" sz="1700" b="1" dirty="0"/>
              <a:t>([]),</a:t>
            </a:r>
            <a:r>
              <a:rPr lang="en-US" sz="1700" b="1" dirty="0" err="1"/>
              <a:t>minLineLength</a:t>
            </a:r>
            <a:r>
              <a:rPr lang="en-US" sz="1700" b="1" dirty="0"/>
              <a:t>=40,maxLineGap=25,)</a:t>
            </a:r>
          </a:p>
          <a:p>
            <a:pPr marL="0" indent="0" algn="just">
              <a:buNone/>
            </a:pPr>
            <a:endParaRPr lang="en-US" sz="1700" b="1" dirty="0"/>
          </a:p>
          <a:p>
            <a:pPr marL="0" indent="0" algn="just">
              <a:buNone/>
            </a:pPr>
            <a:endParaRPr lang="en-US" sz="1700" dirty="0"/>
          </a:p>
        </p:txBody>
      </p:sp>
    </p:spTree>
    <p:extLst>
      <p:ext uri="{BB962C8B-B14F-4D97-AF65-F5344CB8AC3E}">
        <p14:creationId xmlns:p14="http://schemas.microsoft.com/office/powerpoint/2010/main" val="3546243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A64AAF-861E-7CF1-A21A-6AE20169704B}"/>
              </a:ext>
            </a:extLst>
          </p:cNvPr>
          <p:cNvSpPr>
            <a:spLocks noGrp="1"/>
          </p:cNvSpPr>
          <p:nvPr>
            <p:ph idx="1"/>
          </p:nvPr>
        </p:nvSpPr>
        <p:spPr>
          <a:xfrm>
            <a:off x="560174" y="609600"/>
            <a:ext cx="9489680" cy="5638799"/>
          </a:xfrm>
        </p:spPr>
        <p:txBody>
          <a:bodyPr>
            <a:normAutofit/>
          </a:bodyPr>
          <a:lstStyle/>
          <a:p>
            <a:pPr marL="0" indent="0" algn="just">
              <a:buNone/>
            </a:pPr>
            <a:r>
              <a:rPr lang="en-US" sz="1700" dirty="0"/>
              <a:t>Then we have a function called </a:t>
            </a:r>
            <a:r>
              <a:rPr lang="en-US" sz="1700" i="1" dirty="0"/>
              <a:t>‘</a:t>
            </a:r>
            <a:r>
              <a:rPr lang="en-US" sz="1700" i="1" dirty="0" err="1"/>
              <a:t>draw_lines</a:t>
            </a:r>
            <a:r>
              <a:rPr lang="en-US" sz="1700" i="1" dirty="0"/>
              <a:t>()’</a:t>
            </a:r>
            <a:r>
              <a:rPr lang="en-US" sz="1700" dirty="0"/>
              <a:t> which will draw detected lane lines on an image.</a:t>
            </a:r>
          </a:p>
          <a:p>
            <a:pPr marL="0" indent="0" algn="just">
              <a:buNone/>
            </a:pPr>
            <a:r>
              <a:rPr lang="en-US" sz="1700" dirty="0"/>
              <a:t>1. Checking for Valid Lines: if lines is not None:: Checks if there are detected lines in the input. If there are no lines detected (None), the function won't attempt to draw anything. </a:t>
            </a:r>
          </a:p>
          <a:p>
            <a:pPr marL="0" indent="0" algn="just">
              <a:buNone/>
            </a:pPr>
            <a:r>
              <a:rPr lang="en-US" sz="1700" dirty="0"/>
              <a:t>2. Looping Through Detected Lines: for line in lines:: Iterates through each detected line in the lines array. </a:t>
            </a:r>
          </a:p>
          <a:p>
            <a:pPr marL="0" indent="0" algn="just">
              <a:buNone/>
            </a:pPr>
            <a:r>
              <a:rPr lang="en-US" sz="1700" dirty="0"/>
              <a:t>3. Extracting Line Endpoints: x1, y1, x2, y2 = line[0]: Extracts the coordinates of the endpoints of the detected line. </a:t>
            </a:r>
          </a:p>
          <a:p>
            <a:pPr marL="0" indent="0" algn="just">
              <a:buNone/>
            </a:pPr>
            <a:r>
              <a:rPr lang="en-US" sz="1700" dirty="0"/>
              <a:t>4. Drawing Lines on the Image: cv2.line(image, (x1, y1), (x2, y2), (0, 255, 0), 5): Draws a line on the input image using the endpoints (x1, y1) and (x2, y2). (0, 255, 0) represents the color of the line in BGR format (here, it's green). 5 specifies the thickness of the line in pixels. </a:t>
            </a:r>
          </a:p>
          <a:p>
            <a:pPr marL="0" indent="0" algn="just">
              <a:buNone/>
            </a:pPr>
            <a:r>
              <a:rPr lang="en-US" sz="1700" dirty="0"/>
              <a:t>5. Result: The function draws each detected line onto the provided image using the specified color and thickness.</a:t>
            </a:r>
          </a:p>
          <a:p>
            <a:endParaRPr lang="en-IN" dirty="0"/>
          </a:p>
        </p:txBody>
      </p:sp>
    </p:spTree>
    <p:extLst>
      <p:ext uri="{BB962C8B-B14F-4D97-AF65-F5344CB8AC3E}">
        <p14:creationId xmlns:p14="http://schemas.microsoft.com/office/powerpoint/2010/main" val="455922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45BE-EB1D-F1A0-E720-DDF00F242786}"/>
              </a:ext>
            </a:extLst>
          </p:cNvPr>
          <p:cNvSpPr>
            <a:spLocks noGrp="1"/>
          </p:cNvSpPr>
          <p:nvPr>
            <p:ph type="title"/>
          </p:nvPr>
        </p:nvSpPr>
        <p:spPr/>
        <p:txBody>
          <a:bodyPr/>
          <a:lstStyle/>
          <a:p>
            <a:pPr algn="ctr"/>
            <a:r>
              <a:rPr lang="en-US" dirty="0"/>
              <a:t>RESULT</a:t>
            </a:r>
            <a:endParaRPr lang="en-IN" dirty="0"/>
          </a:p>
        </p:txBody>
      </p:sp>
      <p:pic>
        <p:nvPicPr>
          <p:cNvPr id="5" name="Picture 4">
            <a:extLst>
              <a:ext uri="{FF2B5EF4-FFF2-40B4-BE49-F238E27FC236}">
                <a16:creationId xmlns:a16="http://schemas.microsoft.com/office/drawing/2014/main" id="{E5535BBF-9E14-E1BB-E3A1-C5A31545D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9244" y="1450888"/>
            <a:ext cx="8493210" cy="4777432"/>
          </a:xfrm>
          <a:prstGeom prst="rect">
            <a:avLst/>
          </a:prstGeom>
        </p:spPr>
      </p:pic>
    </p:spTree>
    <p:extLst>
      <p:ext uri="{BB962C8B-B14F-4D97-AF65-F5344CB8AC3E}">
        <p14:creationId xmlns:p14="http://schemas.microsoft.com/office/powerpoint/2010/main" val="963716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914C8-30B1-55D7-001C-DED8F4C80832}"/>
              </a:ext>
            </a:extLst>
          </p:cNvPr>
          <p:cNvSpPr>
            <a:spLocks noGrp="1"/>
          </p:cNvSpPr>
          <p:nvPr>
            <p:ph type="title"/>
          </p:nvPr>
        </p:nvSpPr>
        <p:spPr>
          <a:xfrm>
            <a:off x="645131" y="658664"/>
            <a:ext cx="9404723" cy="964190"/>
          </a:xfrm>
        </p:spPr>
        <p:txBody>
          <a:bodyPr/>
          <a:lstStyle/>
          <a:p>
            <a:pPr algn="ctr"/>
            <a:r>
              <a:rPr lang="en-US" dirty="0"/>
              <a:t>Conclusion and Future Works</a:t>
            </a:r>
            <a:endParaRPr lang="en-IN" dirty="0"/>
          </a:p>
        </p:txBody>
      </p:sp>
      <p:sp>
        <p:nvSpPr>
          <p:cNvPr id="4" name="Rectangle 1">
            <a:extLst>
              <a:ext uri="{FF2B5EF4-FFF2-40B4-BE49-F238E27FC236}">
                <a16:creationId xmlns:a16="http://schemas.microsoft.com/office/drawing/2014/main" id="{0B2E6C5A-AFD5-F6AF-EC65-EC220FB733FF}"/>
              </a:ext>
            </a:extLst>
          </p:cNvPr>
          <p:cNvSpPr>
            <a:spLocks noGrp="1" noChangeArrowheads="1"/>
          </p:cNvSpPr>
          <p:nvPr>
            <p:ph idx="1"/>
          </p:nvPr>
        </p:nvSpPr>
        <p:spPr bwMode="auto">
          <a:xfrm>
            <a:off x="645132" y="2303999"/>
            <a:ext cx="940472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entury Gothic (Headings)"/>
              </a:rPr>
              <a:t>The lane detection script employs fundamental OpenCV techniques for basic lane identification. Future improvements could focus on advanced lane tracking algorithms for stability, integrating machine learning models for robustness, and dynamic region-of-interest adaptation. Enhancements to handle diverse road conditions, optimize real-time performance, and create a user-friendly interface would amplify its practicality. Further testing on varied datasets and deployment in ADAS or autonomous vehicles could validate its efficacy. Integrating color-based detection, perspective transformations, and curvature analysis would refine accuracy. Overall, refining algorithms, expanding datasets, and optimizing for real-time performance would enhance its adaptability and reliability in real-world driving scenarios.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96476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75</TotalTime>
  <Words>768</Words>
  <Application>Microsoft Office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Century Gothic</vt:lpstr>
      <vt:lpstr>Century Gothic (Headings)</vt:lpstr>
      <vt:lpstr>Times New Roman</vt:lpstr>
      <vt:lpstr>Wingdings 3</vt:lpstr>
      <vt:lpstr>Ion</vt:lpstr>
      <vt:lpstr>Road Lane-Line Detection using Python and OpenCV</vt:lpstr>
      <vt:lpstr>Problem Statement</vt:lpstr>
      <vt:lpstr>Implementation</vt:lpstr>
      <vt:lpstr>PowerPoint Presentation</vt:lpstr>
      <vt:lpstr>PowerPoint Presentation</vt:lpstr>
      <vt:lpstr>PowerPoint Presentation</vt:lpstr>
      <vt:lpstr>RESULT</vt:lpstr>
      <vt:lpstr>Conclusion and Future 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 Lane-Line Detection using Python and OpenCV</dc:title>
  <dc:creator>Priyanshu Rohilla</dc:creator>
  <cp:lastModifiedBy>Priyanshu Rohilla</cp:lastModifiedBy>
  <cp:revision>1</cp:revision>
  <dcterms:created xsi:type="dcterms:W3CDTF">2023-12-19T18:34:19Z</dcterms:created>
  <dcterms:modified xsi:type="dcterms:W3CDTF">2023-12-19T19:49:43Z</dcterms:modified>
</cp:coreProperties>
</file>